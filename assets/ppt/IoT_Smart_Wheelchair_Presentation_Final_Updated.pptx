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Student: Kubanja Elijah Eldred, 24/BSE/BU/R/0012. This is an eight-week proposed tabletop model. The white cover uses the full-resolution 1400 by 1146 pixel version of the wheelchair image requested by the student. This asset was recovered directly from the original supplied PowerPoint (ppt/media/image2.png), replacing the 249 by 208 pixel screenshot. The original high-resolution PNG is embedded without resampling or regenerating its content, with its native aspect ratio preserved. The image remains a concept illustration and does not establish that a completed wheelchair has been built or safety-tested. The remaining five slides, all visible slide text, font sizes and references are unchanged. Original source date: 9 September 2026. Only the PowerPoint cover visual and its documentation are updated in this revision; the accompanying report has not been modified.</a:t>
            </a:r>
          </a:p>
          <a:p/>
          <a:p>
            <a:r>
              <a:t>SOURCES</a:t>
            </a:r>
          </a:p>
          <a:p>
            <a:r>
              <a:t>[1] World Health Organization. (2023). Wheelchair provision guidelines. Geneva: World Health Organization. ISBN 978-92-4-007452-1.</a:t>
            </a:r>
          </a:p>
          <a:p>
            <a:r>
              <a:t>https://www.who.int/publications/i/item/9789240074521</a:t>
            </a:r>
          </a:p>
          <a:p/>
          <a:p>
            <a:r>
              <a:t>[2] Arduino. (n.d.). UNO R3. Arduino Documentation.</a:t>
            </a:r>
          </a:p>
          <a:p>
            <a:r>
              <a:t>https://docs.arduino.cc/hardware/uno-rev3/</a:t>
            </a:r>
          </a:p>
          <a:p/>
          <a:p>
            <a:r>
              <a:t>[3] InvenSense Inc. (2013, August 19). MPU-6000 and MPU-6050 product specification (Revision 3.4; PS-MPU-6000A-00). Manufacturer-authored specification; distributor-hosted copy.</a:t>
            </a:r>
          </a:p>
          <a:p>
            <a:r>
              <a:t>https://www.cdiweb.com/datasheets/invensense/mpu-6050_datasheet_v3%204.pdf</a:t>
            </a:r>
          </a:p>
          <a:p/>
          <a:p>
            <a:r>
              <a:t>Source project: Kubanja Elijah Eldred, supplied six-slide proposal dated 9 September 2026. Images are retained from its embedded assets unless otherwise indicated. Accessed 15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concerns are preserved from the supplied project: limited control, physical effort, delayed assistance and missing location. They are not measured findings about Bugema University or Uganda. WHO supports individual needs assessment and appropriate wheelchair provision; the fall-detection study cautions against assuming that laboratory performance generalises to real life. It is not wheelchair-specific validation. Detail images are illustrative: the arm and wheel crops come from the supplied concept image, and GSM/GPS photos are supplied component examples.</a:t>
            </a:r>
          </a:p>
          <a:p/>
          <a:p>
            <a:r>
              <a:t>SOURCES</a:t>
            </a:r>
          </a:p>
          <a:p>
            <a:r>
              <a:t>[1] World Health Organization. (2023). Wheelchair provision guidelines. Geneva: World Health Organization. ISBN 978-92-4-007452-1.</a:t>
            </a:r>
          </a:p>
          <a:p>
            <a:r>
              <a:t>https://www.who.int/publications/i/item/9789240074521</a:t>
            </a:r>
          </a:p>
          <a:p/>
          <a:p>
            <a:r>
              <a:t>[6] Bagalà, F., Becker, C., Cappello, A., Chiari, L., Aminian, K., Hausdorff, J. M., Zijlstra, W., &amp; Klenk, J. (2012). Evaluation of accelerometer-based fall detection algorithms on real-world falls. PLOS ONE, 7(5), e37062.</a:t>
            </a:r>
          </a:p>
          <a:p>
            <a:r>
              <a:t>https://doi.org/10.1371/journal.pone.0037062</a:t>
            </a:r>
          </a:p>
          <a:p/>
          <a:p>
            <a:r>
              <a:t>Source project: Kubanja Elijah Eldred, supplied six-slide proposal dated 9 September 2026. Images are retained from its embedded assets unless otherwise indicated. Accessed 15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four objectives and the eight-week scope are retained. Week 1: document 10 user/caregiver requirements; this is not a claim that ten people will be interviewed. Week 3: build and test the gesture-control model using 100 commands. Week 5: integrate alerts and safely simulate 20 fall-candidate events with a fixture or dummy, never human falls. Week 8: evaluate accuracy, false alarms and ten controlled radio-link failures. The original notes propose balancing the commands across forward, reverse, left, right and stop. Non-fall trial counts and acceptance thresholds are not supplied and must be specified before evaluation.</a:t>
            </a:r>
          </a:p>
          <a:p/>
          <a:p>
            <a:r>
              <a:t>SOURCES</a:t>
            </a:r>
          </a:p>
          <a:p>
            <a:r>
              <a:t>[1] World Health Organization. (2023). Wheelchair provision guidelines. Geneva: World Health Organization. ISBN 978-92-4-007452-1.</a:t>
            </a:r>
          </a:p>
          <a:p>
            <a:r>
              <a:t>https://www.who.int/publications/i/item/9789240074521</a:t>
            </a:r>
          </a:p>
          <a:p/>
          <a:p>
            <a:r>
              <a:t>[6] Bagalà, F., Becker, C., Cappello, A., Chiari, L., Aminian, K., Hausdorff, J. M., Zijlstra, W., &amp; Klenk, J. (2012). Evaluation of accelerometer-based fall detection algorithms on real-world falls. PLOS ONE, 7(5), e37062.</a:t>
            </a:r>
          </a:p>
          <a:p>
            <a:r>
              <a:t>https://doi.org/10.1371/journal.pone.0037062</a:t>
            </a:r>
          </a:p>
          <a:p/>
          <a:p>
            <a:r>
              <a:t>Source project: Kubanja Elijah Eldred, supplied six-slide proposal dated 9 September 2026. Images are retained from its embedded assets unless otherwise indicated. Accessed 15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original educational model components, not a full-size wheelchair bill of materials. The RF model is unspecified; confirm its exact frequency and interface before assembly. SG90 is optional and not required for differential steering. L298 is a STMicroelectronics device [5]; L293D is from Texas Instruments [8]. Their current limits and voltage losses must be checked for the selected small motors. SIM800L must not be powered from an Arduino GPIO. The UNO serial-port integration arrangement remains to be resolved and bench-tested. All photos were already embedded in the uploaded file; original photographer URLs are not provided. Datasheet citations document technical roles, not the provenance of these photographs.</a:t>
            </a:r>
          </a:p>
          <a:p/>
          <a:p>
            <a:r>
              <a:t>SOURCES</a:t>
            </a:r>
          </a:p>
          <a:p>
            <a:r>
              <a:t>[2] Arduino. (n.d.). UNO R3. Arduino Documentation.</a:t>
            </a:r>
          </a:p>
          <a:p>
            <a:r>
              <a:t>https://docs.arduino.cc/hardware/uno-rev3/</a:t>
            </a:r>
          </a:p>
          <a:p/>
          <a:p>
            <a:r>
              <a:t>[3] InvenSense Inc. (2013, August 19). MPU-6000 and MPU-6050 product specification (Revision 3.4; PS-MPU-6000A-00). Manufacturer-authored specification; distributor-hosted copy.</a:t>
            </a:r>
          </a:p>
          <a:p>
            <a:r>
              <a:t>https://www.cdiweb.com/datasheets/invensense/mpu-6050_datasheet_v3%204.pdf</a:t>
            </a:r>
          </a:p>
          <a:p/>
          <a:p>
            <a:r>
              <a:t>[4] SIMCom. (2013, August 20). SIM800L hardware design (Version 1.00). Manufacturer-authored hardware manual; MakerHero-hosted copy.</a:t>
            </a:r>
          </a:p>
          <a:p>
            <a:r>
              <a:t>https://www.makerhero.com/img/files/download/Datasheet_SIM800L.pdf</a:t>
            </a:r>
          </a:p>
          <a:p/>
          <a:p>
            <a:r>
              <a:t>[5] STMicroelectronics. (2023, October). L298: Dual full-bridge driver (DS0218, Revision 5).</a:t>
            </a:r>
          </a:p>
          <a:p>
            <a:r>
              <a:t>https://www.st.com/resource/en/datasheet/l298.pdf</a:t>
            </a:r>
          </a:p>
          <a:p/>
          <a:p>
            <a:r>
              <a:t>[7] u-blox AG. (2011, December 5). NEO-6: u-blox 6 GPS modules, data sheet (GPS.G6-HW-09005-E).</a:t>
            </a:r>
          </a:p>
          <a:p>
            <a:r>
              <a:t>https://content.u-blox.com/sites/default/files/products/documents/NEO-6_DataSheet_(GPS.G6-HW-09005).pdf</a:t>
            </a:r>
          </a:p>
          <a:p/>
          <a:p>
            <a:r>
              <a:t>[8] Texas Instruments. (2016, January). L293x quadruple half-H drivers (SLRS008D, Revision D).</a:t>
            </a:r>
          </a:p>
          <a:p>
            <a:r>
              <a:t>https://www.ti.com/lit/ds/symlink/l293.pdf</a:t>
            </a:r>
          </a:p>
          <a:p/>
          <a:p>
            <a:r>
              <a:t>[9] Tower Pro. (n.d.). SG90 Digital. Product documentation.</a:t>
            </a:r>
          </a:p>
          <a:p>
            <a:r>
              <a:t>https://towerpro.com.tw/product/sg90-7/</a:t>
            </a:r>
          </a:p>
          <a:p/>
          <a:p>
            <a:r>
              <a:t>Source project: Kubanja Elijah Eldred, supplied six-slide proposal dated 9 September 2026. Images are retained from its embedded assets unless otherwise indicated. Accessed 15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six principal references are retained with their original numbering. Click an author heading to open the source. Full bibliographic details and URLs for [1]–[9] appear in the report. InvenSense [3] and SIMCom [4] are manufacturer-authored documents accessed through distributor/public mirrors; they are not presented as websites hosting the original photographs. Additional sources: u-blox NEO-6 [7], TI L293D [8], Tower Pro SG90 [9]. The report does not claim to have independently authenticated the supplied component photos.</a:t>
            </a:r>
          </a:p>
          <a:p/>
          <a:p>
            <a:r>
              <a:t>SOURCES</a:t>
            </a:r>
          </a:p>
          <a:p>
            <a:r>
              <a:t>[1] World Health Organization. (2023). Wheelchair provision guidelines. Geneva: World Health Organization. ISBN 978-92-4-007452-1.</a:t>
            </a:r>
          </a:p>
          <a:p>
            <a:r>
              <a:t>https://www.who.int/publications/i/item/9789240074521</a:t>
            </a:r>
          </a:p>
          <a:p/>
          <a:p>
            <a:r>
              <a:t>[2] Arduino. (n.d.). UNO R3. Arduino Documentation.</a:t>
            </a:r>
          </a:p>
          <a:p>
            <a:r>
              <a:t>https://docs.arduino.cc/hardware/uno-rev3/</a:t>
            </a:r>
          </a:p>
          <a:p/>
          <a:p>
            <a:r>
              <a:t>[3] InvenSense Inc. (2013, August 19). MPU-6000 and MPU-6050 product specification (Revision 3.4; PS-MPU-6000A-00). Manufacturer-authored specification; distributor-hosted copy.</a:t>
            </a:r>
          </a:p>
          <a:p>
            <a:r>
              <a:t>https://www.cdiweb.com/datasheets/invensense/mpu-6050_datasheet_v3%204.pdf</a:t>
            </a:r>
          </a:p>
          <a:p/>
          <a:p>
            <a:r>
              <a:t>[4] SIMCom. (2013, August 20). SIM800L hardware design (Version 1.00). Manufacturer-authored hardware manual; MakerHero-hosted copy.</a:t>
            </a:r>
          </a:p>
          <a:p>
            <a:r>
              <a:t>https://www.makerhero.com/img/files/download/Datasheet_SIM800L.pdf</a:t>
            </a:r>
          </a:p>
          <a:p/>
          <a:p>
            <a:r>
              <a:t>[5] STMicroelectronics. (2023, October). L298: Dual full-bridge driver (DS0218, Revision 5).</a:t>
            </a:r>
          </a:p>
          <a:p>
            <a:r>
              <a:t>https://www.st.com/resource/en/datasheet/l298.pdf</a:t>
            </a:r>
          </a:p>
          <a:p/>
          <a:p>
            <a:r>
              <a:t>[6] Bagalà, F., Becker, C., Cappello, A., Chiari, L., Aminian, K., Hausdorff, J. M., Zijlstra, W., &amp; Klenk, J. (2012). Evaluation of accelerometer-based fall detection algorithms on real-world falls. PLOS ONE, 7(5), e37062.</a:t>
            </a:r>
          </a:p>
          <a:p>
            <a:r>
              <a:t>https://doi.org/10.1371/journal.pone.0037062</a:t>
            </a:r>
          </a:p>
          <a:p/>
          <a:p>
            <a:r>
              <a:t>[7] u-blox AG. (2011, December 5). NEO-6: u-blox 6 GPS modules, data sheet (GPS.G6-HW-09005-E).</a:t>
            </a:r>
          </a:p>
          <a:p>
            <a:r>
              <a:t>https://content.u-blox.com/sites/default/files/products/documents/NEO-6_DataSheet_(GPS.G6-HW-09005).pdf</a:t>
            </a:r>
          </a:p>
          <a:p/>
          <a:p>
            <a:r>
              <a:t>[8] Texas Instruments. (2016, January). L293x quadruple half-H drivers (SLRS008D, Revision D).</a:t>
            </a:r>
          </a:p>
          <a:p>
            <a:r>
              <a:t>https://www.ti.com/lit/ds/symlink/l293.pdf</a:t>
            </a:r>
          </a:p>
          <a:p/>
          <a:p>
            <a:r>
              <a:t>[9] Tower Pro. (n.d.). SG90 Digital. Product documentation.</a:t>
            </a:r>
          </a:p>
          <a:p>
            <a:r>
              <a:t>https://towerpro.com.tw/product/sg90-7/</a:t>
            </a:r>
          </a:p>
          <a:p/>
          <a:p>
            <a:r>
              <a:t>Source project: Kubanja Elijah Eldred, supplied six-slide proposal dated 9 September 2026. Images are retained from its embedded assets unless otherwise indicated. Accessed 15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sequence retained from the source notes: calibrate a neutral arm position; read MPU6050 motion; validate fresh radio commands; drive the small motors; monitor possible fall cues; stop motion and sound a buzzer; allow a cancellation window; then send caregiver SMS with location when available. Do not wait indefinitely for GPS before alerting. GSM/network conditions affect receipt; local radio movement control must not depend on a mobile network or Internet service. The one arm-mounted IMU does not establish reliable detection of every user fall or wheelchair tip-over; distinguish the target event before evaluation. The report labels implementation additions and open design decisions. The phone is a concept mockup, not evidence of a delivered SMS.</a:t>
            </a:r>
          </a:p>
          <a:p/>
          <a:p>
            <a:r>
              <a:t>SOURCES</a:t>
            </a:r>
          </a:p>
          <a:p>
            <a:r>
              <a:t>[2] Arduino. (n.d.). UNO R3. Arduino Documentation.</a:t>
            </a:r>
          </a:p>
          <a:p>
            <a:r>
              <a:t>https://docs.arduino.cc/hardware/uno-rev3/</a:t>
            </a:r>
          </a:p>
          <a:p/>
          <a:p>
            <a:r>
              <a:t>[3] InvenSense Inc. (2013, August 19). MPU-6000 and MPU-6050 product specification (Revision 3.4; PS-MPU-6000A-00). Manufacturer-authored specification; distributor-hosted copy.</a:t>
            </a:r>
          </a:p>
          <a:p>
            <a:r>
              <a:t>https://www.cdiweb.com/datasheets/invensense/mpu-6050_datasheet_v3%204.pdf</a:t>
            </a:r>
          </a:p>
          <a:p/>
          <a:p>
            <a:r>
              <a:t>[4] SIMCom. (2013, August 20). SIM800L hardware design (Version 1.00). Manufacturer-authored hardware manual; MakerHero-hosted copy.</a:t>
            </a:r>
          </a:p>
          <a:p>
            <a:r>
              <a:t>https://www.makerhero.com/img/files/download/Datasheet_SIM800L.pdf</a:t>
            </a:r>
          </a:p>
          <a:p/>
          <a:p>
            <a:r>
              <a:t>[5] STMicroelectronics. (2023, October). L298: Dual full-bridge driver (DS0218, Revision 5).</a:t>
            </a:r>
          </a:p>
          <a:p>
            <a:r>
              <a:t>https://www.st.com/resource/en/datasheet/l298.pdf</a:t>
            </a:r>
          </a:p>
          <a:p/>
          <a:p>
            <a:r>
              <a:t>[6] Bagalà, F., Becker, C., Cappello, A., Chiari, L., Aminian, K., Hausdorff, J. M., Zijlstra, W., &amp; Klenk, J. (2012). Evaluation of accelerometer-based fall detection algorithms on real-world falls. PLOS ONE, 7(5), e37062.</a:t>
            </a:r>
          </a:p>
          <a:p>
            <a:r>
              <a:t>https://doi.org/10.1371/journal.pone.0037062</a:t>
            </a:r>
          </a:p>
          <a:p/>
          <a:p>
            <a:r>
              <a:t>[7] u-blox AG. (2011, December 5). NEO-6: u-blox 6 GPS modules, data sheet (GPS.G6-HW-09005-E).</a:t>
            </a:r>
          </a:p>
          <a:p>
            <a:r>
              <a:t>https://content.u-blox.com/sites/default/files/products/documents/NEO-6_DataSheet_(GPS.G6-HW-09005).pdf</a:t>
            </a:r>
          </a:p>
          <a:p/>
          <a:p>
            <a:r>
              <a:t>Source project: Kubanja Elijah Eldred, supplied six-slide proposal dated 9 September 2026. Images are retained from its embedded assets unless otherwise indicated. Accessed 15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ho.int/publications/i/item/9789240074521" TargetMode="External"/><Relationship Id="rId3" Type="http://schemas.openxmlformats.org/officeDocument/2006/relationships/hyperlink" Target="https://docs.arduino.cc/hardware/uno-rev3/" TargetMode="External"/><Relationship Id="rId4" Type="http://schemas.openxmlformats.org/officeDocument/2006/relationships/hyperlink" Target="https://www.cdiweb.com/datasheets/invensense/mpu-6050_datasheet_v3%204.pdf" TargetMode="External"/><Relationship Id="rId5" Type="http://schemas.openxmlformats.org/officeDocument/2006/relationships/hyperlink" Target="https://www.makerhero.com/img/files/download/Datasheet_SIM800L.pdf" TargetMode="External"/><Relationship Id="rId6" Type="http://schemas.openxmlformats.org/officeDocument/2006/relationships/hyperlink" Target="https://www.st.com/resource/en/datasheet/l298.pdf" TargetMode="External"/><Relationship Id="rId7" Type="http://schemas.openxmlformats.org/officeDocument/2006/relationships/hyperlink" Target="https://doi.org/10.1371/journal.pone.0037062" TargetMode="Externa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82912" cy="68580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2912" y="0"/>
            <a:ext cx="2609697" cy="68580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38328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7D82"/>
                </a:solidFill>
                <a:latin typeface="Lato"/>
              </a:rPr>
              <a:t>BUGEMA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77824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425257"/>
                </a:solidFill>
                <a:latin typeface="Lato"/>
              </a:rPr>
              <a:t>Computing and Informatics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35608"/>
            <a:ext cx="777240" cy="64008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46504"/>
            <a:ext cx="5833872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0282C"/>
                </a:solidFill>
                <a:latin typeface="Lato"/>
              </a:rPr>
              <a:t>IoT Smart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0282C"/>
                </a:solidFill>
                <a:latin typeface="Lato"/>
              </a:rPr>
              <a:t>Wheelchair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47288"/>
            <a:ext cx="6080760" cy="9509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6469"/>
                </a:solidFill>
                <a:latin typeface="Lato"/>
              </a:rPr>
              <a:t>Arm-Gesture Control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6469"/>
                </a:solidFill>
                <a:latin typeface="Lato"/>
              </a:rPr>
              <a:t>and Fall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28032"/>
            <a:ext cx="61722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Kubanja Elijah Eldred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59436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24/BSE/BU/R/0012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70448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425257"/>
                </a:solidFill>
                <a:latin typeface="Lato"/>
              </a:rPr>
              <a:t>Research Methods in Computing</a:t>
            </a:r>
          </a:p>
        </p:txBody>
      </p:sp>
      <p:pic>
        <p:nvPicPr>
          <p:cNvPr id="12" name="High-resolution wheelchair cover image" descr="High-resolution 1400 by 1146 pixel version of the same wheelchair concept, recovered from the original supplied PowerPoint. Black seating, metal frame and yellow wheels. Concept illustration, not evidence of a completed passenger-ready prototyp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40500"/>
            <a:ext cx="4736592" cy="387723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0" y="5916168"/>
            <a:ext cx="4736592" cy="31089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5934456"/>
            <a:ext cx="459028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6469"/>
                </a:solidFill>
                <a:latin typeface="Lato"/>
              </a:rPr>
              <a:t>Concept illustration  |  September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" y="6382512"/>
            <a:ext cx="11201400" cy="11887"/>
          </a:xfrm>
          <a:prstGeom prst="rect">
            <a:avLst/>
          </a:prstGeom>
          <a:solidFill>
            <a:srgbClr val="D5E2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681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25257"/>
                </a:solidFill>
                <a:latin typeface="Lato"/>
              </a:rPr>
              <a:t>Sources: WHO [1]; Arduino [2]; InvenSense [3].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64808"/>
            <a:ext cx="484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82"/>
                </a:solidFill>
                <a:latin typeface="Lat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82912" cy="68580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2912" y="0"/>
            <a:ext cx="2609697" cy="68580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83464"/>
            <a:ext cx="11173968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20282C"/>
                </a:solidFill>
                <a:latin typeface="Lato"/>
              </a:rPr>
              <a:t>Mobility and safety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739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25257"/>
                </a:solidFill>
                <a:latin typeface="Lato"/>
              </a:rPr>
              <a:t>Study concerns—not measured local findings.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382512"/>
            <a:ext cx="11201400" cy="11887"/>
          </a:xfrm>
          <a:prstGeom prst="rect">
            <a:avLst/>
          </a:prstGeom>
          <a:solidFill>
            <a:srgbClr val="D5E2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681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25257"/>
                </a:solidFill>
                <a:latin typeface="Lato"/>
              </a:rPr>
              <a:t>Sources: WHO (2023) [1]; Bagalà et al. (2012) [6].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484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82"/>
                </a:solidFill>
                <a:latin typeface="Lato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63624"/>
            <a:ext cx="5468112" cy="2002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746504"/>
            <a:ext cx="448056" cy="448056"/>
          </a:xfrm>
          <a:prstGeom prst="ellipse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83080"/>
            <a:ext cx="4297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1746504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Limited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21991"/>
            <a:ext cx="4142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Limited hand strength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or dexterity can make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control difficult.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350008"/>
            <a:ext cx="91440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llustrative project detail for limited contro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395728"/>
            <a:ext cx="841247" cy="84124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17920" y="1563624"/>
            <a:ext cx="5468112" cy="2002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746504"/>
            <a:ext cx="448056" cy="44805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783080"/>
            <a:ext cx="4297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746504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Physical 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221991"/>
            <a:ext cx="4142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Manual propulsion can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be tiring and limit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independence.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2350008"/>
            <a:ext cx="91440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Illustrative project detail for physical effor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114" y="2386584"/>
            <a:ext cx="486251" cy="85953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02920" y="3666744"/>
            <a:ext cx="5468112" cy="2002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3849624"/>
            <a:ext cx="448056" cy="44805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3886200"/>
            <a:ext cx="4297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Lat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849624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Delayed help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325112"/>
            <a:ext cx="4142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After a suspected fall,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help may not arrive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promptly.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4453128"/>
            <a:ext cx="91440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Illustrative project detail for delayed help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4555016"/>
            <a:ext cx="841248" cy="72891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217920" y="3666744"/>
            <a:ext cx="5468112" cy="2002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849624"/>
            <a:ext cx="448056" cy="448056"/>
          </a:xfrm>
          <a:prstGeom prst="ellipse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3886200"/>
            <a:ext cx="42976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Lat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3849624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Missing location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325112"/>
            <a:ext cx="414223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Caregivers may not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know where support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is needed.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07040" y="4453128"/>
            <a:ext cx="914400" cy="9418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llustrative project detail for missing location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3616" y="4647573"/>
            <a:ext cx="841248" cy="54379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02920" y="5870448"/>
            <a:ext cx="11183112" cy="393192"/>
          </a:xfrm>
          <a:prstGeom prst="roundRect">
            <a:avLst>
              <a:gd name="adj" fmla="val 12000"/>
            </a:avLst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829300"/>
            <a:ext cx="10844784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Lato"/>
              </a:rPr>
              <a:t>Need: intuitive movement control + prompt caregiver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82912" cy="68580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2912" y="0"/>
            <a:ext cx="2609697" cy="68580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83464"/>
            <a:ext cx="11173968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20282C"/>
                </a:solidFill>
                <a:latin typeface="Lato"/>
              </a:rPr>
              <a:t>Four measurable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739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25257"/>
                </a:solidFill>
                <a:latin typeface="Lato"/>
              </a:rPr>
              <a:t>Eight-week study • Planned work, not completed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382512"/>
            <a:ext cx="11201400" cy="11887"/>
          </a:xfrm>
          <a:prstGeom prst="rect">
            <a:avLst/>
          </a:prstGeom>
          <a:solidFill>
            <a:srgbClr val="D5E2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681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25257"/>
                </a:solidFill>
                <a:latin typeface="Lato"/>
              </a:rPr>
              <a:t>Sources: supplied project plan; WHO [1]; Bagalà et al. [6].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484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82"/>
                </a:solidFill>
                <a:latin typeface="Lato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618488"/>
            <a:ext cx="1883664" cy="1005840"/>
          </a:xfrm>
          <a:prstGeom prst="roundRect">
            <a:avLst>
              <a:gd name="adj" fmla="val 12000"/>
            </a:avLst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56816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Lato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904" y="1728216"/>
            <a:ext cx="8723376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Document 10 user and caregiver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7772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747772"/>
            <a:ext cx="1883664" cy="1005840"/>
          </a:xfrm>
          <a:prstGeom prst="roundRect">
            <a:avLst>
              <a:gd name="adj" fmla="val 12000"/>
            </a:avLst>
          </a:prstGeom>
          <a:solidFill>
            <a:srgbClr val="8A5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86100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Lato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4" y="2857500"/>
            <a:ext cx="8723376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Build the gesture-control model;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test 100 movement commands.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77056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877056"/>
            <a:ext cx="1883664" cy="1005840"/>
          </a:xfrm>
          <a:prstGeom prst="roundRect">
            <a:avLst>
              <a:gd name="adj" fmla="val 12000"/>
            </a:avLst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15384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Lato"/>
              </a:rPr>
              <a:t>WEEK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3986784"/>
            <a:ext cx="8723376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Integrate caregiver alerts;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safely simulate 20 fall-candidate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06340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5006340"/>
            <a:ext cx="1883664" cy="1005840"/>
          </a:xfrm>
          <a:prstGeom prst="roundRect">
            <a:avLst>
              <a:gd name="adj" fmla="val 12000"/>
            </a:avLst>
          </a:prstGeom>
          <a:solidFill>
            <a:srgbClr val="8A5A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44668"/>
            <a:ext cx="15087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Lato"/>
              </a:rPr>
              <a:t>WEEK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0904" y="5116068"/>
            <a:ext cx="8723376" cy="8046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Evaluate accuracy, false alarms and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C"/>
                </a:solidFill>
                <a:latin typeface="Lato"/>
              </a:rPr>
              <a:t>responses to 10 radio-link failures.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82912" cy="68580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2912" y="0"/>
            <a:ext cx="2609697" cy="68580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83464"/>
            <a:ext cx="11173968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20282C"/>
                </a:solidFill>
                <a:latin typeface="Lato"/>
              </a:rPr>
              <a:t>Prototype: components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739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25257"/>
                </a:solidFill>
                <a:latin typeface="Lato"/>
              </a:rPr>
              <a:t>Tabletop model only—not passenger-ready.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382512"/>
            <a:ext cx="11201400" cy="11887"/>
          </a:xfrm>
          <a:prstGeom prst="rect">
            <a:avLst/>
          </a:prstGeom>
          <a:solidFill>
            <a:srgbClr val="D5E2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681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25257"/>
                </a:solidFill>
                <a:latin typeface="Lato"/>
              </a:rPr>
              <a:t>Sources: Arduino; InvenSense; SIMCom; ST; GPS/servo [2–5, 7–9].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484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82"/>
                </a:solidFill>
                <a:latin typeface="Lato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27048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1600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Supplied photograph illustrating Arduino Uno ×2. Variant and final wiring must be confirm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37" y="1613916"/>
            <a:ext cx="835780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47088" y="1585569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Arduino Uno 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1971446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Control both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55163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" y="2528315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Supplied photograph illustrating MPU6050. Variant and final wiring must be confirme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85" y="2542032"/>
            <a:ext cx="645084" cy="685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47088" y="2513685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MPU6050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2899562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Sense arm motion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79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456432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Supplied photograph illustrating 433 MHz RF pair. Variant and final wiring must be confirmed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8805"/>
            <a:ext cx="996696" cy="568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47088" y="3441801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433 MHz RF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3827678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Send commands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311396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" y="4384548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Supplied photograph illustrating GPS module. Variant and final wiring must be confirmed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19023"/>
            <a:ext cx="996696" cy="64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47088" y="4369917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GPS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4755794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Get coordinates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39512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" y="5312664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Supplied photograph illustrating SIM800L GSM. Variant and final wiring must be confirmed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81" y="5326379"/>
            <a:ext cx="7914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847088" y="5298033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SIM800L GSM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5683910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Send caregiver SMS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527048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27648" y="1600200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upplied photograph illustrating L298N / L293D. Variant and final wiring must be confirmed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939" y="1613916"/>
            <a:ext cx="780977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562088" y="1585569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L298N / L293D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1971446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Drive model motors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455163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27648" y="2528315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Supplied photograph illustrating Motors + wheels. Variant and final wiring must be confirmed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553092"/>
            <a:ext cx="996696" cy="6636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562088" y="2513685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Motors + wheels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2899562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Move the model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383279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27648" y="3456432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Supplied photograph illustrating SG90 servos*. Variant and final wiring must be confirmed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6653" y="3470148"/>
            <a:ext cx="933549" cy="685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562088" y="3441801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SG90 servos*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2088" y="3827678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Optional steering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311396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27648" y="4384548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Supplied photograph illustrating Local buzzer. Variant and final wiring must be confirmed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414489"/>
            <a:ext cx="996696" cy="6533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562088" y="4369917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Local buzzer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4755794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Sound an alert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239512"/>
            <a:ext cx="5477256" cy="859536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27648" y="5312664"/>
            <a:ext cx="10515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Supplied photograph illustrating Li-ion supply. Variant and final wiring must be confirmed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345566"/>
            <a:ext cx="996696" cy="64742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62088" y="5298033"/>
            <a:ext cx="39959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Li-ion supply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62088" y="5683910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Power the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82912" cy="68580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2912" y="0"/>
            <a:ext cx="2609697" cy="68580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83464"/>
            <a:ext cx="11173968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20282C"/>
                </a:solidFill>
                <a:latin typeface="Lato"/>
              </a:rP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739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25257"/>
                </a:solidFill>
                <a:latin typeface="Lato"/>
              </a:rPr>
              <a:t>The same reference numbers are used in the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382512"/>
            <a:ext cx="11201400" cy="11887"/>
          </a:xfrm>
          <a:prstGeom prst="rect">
            <a:avLst/>
          </a:prstGeom>
          <a:solidFill>
            <a:srgbClr val="D5E2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681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25257"/>
                </a:solidFill>
                <a:latin typeface="Lato"/>
              </a:rPr>
              <a:t>Full references [1]–[9], source links and image credits are in the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484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82"/>
                </a:solidFill>
                <a:latin typeface="Lato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5477256" cy="1380744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18488"/>
            <a:ext cx="64008" cy="1380744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19072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6469"/>
                </a:solidFill>
                <a:latin typeface="Lato"/>
                <a:hlinkClick r:id="rId2"/>
              </a:rPr>
              <a:t>[1] WHO (2023)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12264"/>
            <a:ext cx="5065776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Wheelchair provision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guidelines.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18488"/>
            <a:ext cx="5477256" cy="1380744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18488"/>
            <a:ext cx="64008" cy="1380744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719072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A5A00"/>
                </a:solidFill>
                <a:latin typeface="Lato"/>
                <a:hlinkClick r:id="rId3"/>
              </a:rPr>
              <a:t>[2] Arduino (n.d.)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112264"/>
            <a:ext cx="5065776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UNO R3 official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documentation.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18104"/>
            <a:ext cx="5477256" cy="1380744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18104"/>
            <a:ext cx="64008" cy="1380744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1868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6469"/>
                </a:solidFill>
                <a:latin typeface="Lato"/>
                <a:hlinkClick r:id="rId4"/>
              </a:rPr>
              <a:t>[3] InvenSense (2013)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11880"/>
            <a:ext cx="5065776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MPU-6000 / MPU-6050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product specification.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18104"/>
            <a:ext cx="5477256" cy="1380744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18104"/>
            <a:ext cx="64008" cy="1380744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218688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A5A00"/>
                </a:solidFill>
                <a:latin typeface="Lato"/>
                <a:hlinkClick r:id="rId5"/>
              </a:rPr>
              <a:t>[4] SIMCom (2013)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611880"/>
            <a:ext cx="5065776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SIM800L hardware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design, version 1.00.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5477256" cy="1380744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17720"/>
            <a:ext cx="64008" cy="1380744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718304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6469"/>
                </a:solidFill>
                <a:latin typeface="Lato"/>
                <a:hlinkClick r:id="rId6"/>
              </a:rPr>
              <a:t>[5] STMicroelectronics (2023)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111496"/>
            <a:ext cx="5065776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L298 dual full-bridge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driver datasheet.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617720"/>
            <a:ext cx="5477256" cy="1380744"/>
          </a:xfrm>
          <a:prstGeom prst="roundRect">
            <a:avLst>
              <a:gd name="adj" fmla="val 12000"/>
            </a:avLst>
          </a:prstGeom>
          <a:solidFill>
            <a:srgbClr val="FFF4D9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617720"/>
            <a:ext cx="64008" cy="1380744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718304"/>
            <a:ext cx="50657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A5A00"/>
                </a:solidFill>
                <a:latin typeface="Lato"/>
                <a:hlinkClick r:id="rId7"/>
              </a:rPr>
              <a:t>[6] Bagalà et al. (2012)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111496"/>
            <a:ext cx="5065776" cy="795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Fall-detection evaluation.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PLOS ONE, 7(5), e37062.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82912" cy="68580"/>
          </a:xfrm>
          <a:prstGeom prst="rect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82912" y="0"/>
            <a:ext cx="2609697" cy="68580"/>
          </a:xfrm>
          <a:prstGeom prst="rect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83464"/>
            <a:ext cx="11173968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>
                <a:solidFill>
                  <a:srgbClr val="20282C"/>
                </a:solidFill>
                <a:latin typeface="Lato"/>
              </a:rPr>
              <a:t>How the proposed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739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425257"/>
                </a:solidFill>
                <a:latin typeface="Lato"/>
              </a:rPr>
              <a:t>Arm controller → wheelchair model → caregiver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" y="6382512"/>
            <a:ext cx="11201400" cy="11887"/>
          </a:xfrm>
          <a:prstGeom prst="rect">
            <a:avLst/>
          </a:prstGeom>
          <a:solidFill>
            <a:srgbClr val="D5E2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681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25257"/>
                </a:solidFill>
                <a:latin typeface="Lato"/>
              </a:rPr>
              <a:t>Sources: Arduino; InvenSense; SIMCom; ST; Bagalà; u-blox [2–7].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64808"/>
            <a:ext cx="484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7D82"/>
                </a:solidFill>
                <a:latin typeface="Lato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063240" cy="4160520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9392" y="1554480"/>
            <a:ext cx="3639312" cy="4160520"/>
          </a:xfrm>
          <a:prstGeom prst="roundRect">
            <a:avLst>
              <a:gd name="adj" fmla="val 12000"/>
            </a:avLst>
          </a:prstGeom>
          <a:solidFill>
            <a:srgbClr val="F5F7F7"/>
          </a:solidFill>
          <a:ln w="11430">
            <a:solidFill>
              <a:srgbClr val="D5E2E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5564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6469"/>
                </a:solidFill>
                <a:latin typeface="Lato"/>
              </a:rPr>
              <a:t>1  ARM UNIT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55648"/>
            <a:ext cx="3419856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82C"/>
                </a:solidFill>
                <a:latin typeface="Lato"/>
              </a:rPr>
              <a:t>2  CHAIR MODEL</a:t>
            </a:r>
          </a:p>
        </p:txBody>
      </p:sp>
      <p:pic>
        <p:nvPicPr>
          <p:cNvPr id="15" name="Picture 14" descr="Arm-worn gesture controller concept cropped from the supplied illustra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50008"/>
            <a:ext cx="2249424" cy="2249424"/>
          </a:xfrm>
          <a:prstGeom prst="rect">
            <a:avLst/>
          </a:prstGeom>
        </p:spPr>
      </p:pic>
      <p:pic>
        <p:nvPicPr>
          <p:cNvPr id="16" name="Picture 15" descr="Realistic educational wheelchair-model concept from the supplied presentation; not a verified buil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347" y="2395728"/>
            <a:ext cx="2971401" cy="2432304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3648456" y="3236976"/>
            <a:ext cx="512064" cy="320040"/>
          </a:xfrm>
          <a:prstGeom prst="rightArrow">
            <a:avLst/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3730752"/>
            <a:ext cx="6217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6469"/>
                </a:solidFill>
                <a:latin typeface="Lato"/>
              </a:rPr>
              <a:t>RF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10144" y="3236976"/>
            <a:ext cx="502920" cy="320040"/>
          </a:xfrm>
          <a:prstGeom prst="rightArrow">
            <a:avLst/>
          </a:prstGeom>
          <a:solidFill>
            <a:srgbClr val="D798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3730752"/>
            <a:ext cx="70408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A5A00"/>
                </a:solidFill>
                <a:latin typeface="Lato"/>
              </a:rPr>
              <a:t>GSM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782312"/>
            <a:ext cx="284378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MPU6050 + Uno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Arm gestures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782312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Control + drive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82C"/>
                </a:solidFill>
                <a:latin typeface="Lato"/>
              </a:rPr>
              <a:t>+ protected power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852160"/>
            <a:ext cx="11183112" cy="402336"/>
          </a:xfrm>
          <a:prstGeom prst="roundRect">
            <a:avLst>
              <a:gd name="adj" fmla="val 12000"/>
            </a:avLst>
          </a:prstGeom>
          <a:solidFill>
            <a:srgbClr val="007D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52160"/>
            <a:ext cx="10863072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Lato"/>
              </a:rPr>
              <a:t>Suspected fall → local alarm + SMS.  *When location is available.</a:t>
            </a:r>
          </a:p>
        </p:txBody>
      </p:sp>
      <p:pic>
        <p:nvPicPr>
          <p:cNvPr id="33" name="Picture 32" descr="c4caa31e-8a93-53f7-9426-72ac4f6a5b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1726611"/>
            <a:ext cx="3054096" cy="38162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469"/>
      </a:hlink>
      <a:folHlink>
        <a:srgbClr val="8A5A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Smart Wheelchair | Arm-Gesture Control and Fall Alerts</dc:title>
  <dc:subject>Six-slide research proposal: white cover, large text, realistic concept imagery, matching references</dc:subject>
  <dc:creator>Kubanja Elijah Eldred</dc:creator>
  <cp:keywords>Bugema University; IoT; wheelchair; arm gesture; fall alerts; tabletop model</cp:keywords>
  <dc:description>Concept proposal. No completed prototype or passenger-ready device is claimed.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